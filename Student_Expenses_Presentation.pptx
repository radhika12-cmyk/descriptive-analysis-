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36b4593-845a-d9ee-645e-985dccca06b8}">
          <p14:sldIdLst>
            <p14:sldId id="256"/>
          </p14:sldIdLst>
        </p14:section>
        <p14:section name="Findings" id="{89914e43-e27d-e72a-1e06-10416a26fef5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e" id="{ad2b3ee1-72b5-0e6d-ce5d-ad3f0e7d236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A"/>
                </a:solidFill>
                <a:latin typeface="+mn-lt"/>
              </a:rPr>
              <a:t>Spend by category (INR)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(INR)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Entertainment</c:v>
                  </c:pt>
                  <c:pt idx="1">
                    <c:v>Bills</c:v>
                  </c:pt>
                  <c:pt idx="2">
                    <c:v>Shopping</c:v>
                  </c:pt>
                  <c:pt idx="3">
                    <c:v>Education</c:v>
                  </c:pt>
                  <c:pt idx="4">
                    <c:v>Transport</c:v>
                  </c:pt>
                  <c:pt idx="5">
                    <c:v>Food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51769</c:v>
                </c:pt>
                <c:pt idx="1">
                  <c:v>52817</c:v>
                </c:pt>
                <c:pt idx="2">
                  <c:v>70925</c:v>
                </c:pt>
                <c:pt idx="3">
                  <c:v>71092</c:v>
                </c:pt>
                <c:pt idx="4">
                  <c:v>76301</c:v>
                </c:pt>
                <c:pt idx="5">
                  <c:v>122911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A"/>
                </a:solidFill>
                <a:latin typeface="+mn-lt"/>
              </a:rPr>
              <a:t>Needs vs wants (share of INR)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Need</c:v>
                </c:pt>
                <c:pt idx="1">
                  <c:v>Want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278062</c:v>
                </c:pt>
                <c:pt idx="1">
                  <c:v>167753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A"/>
                </a:solidFill>
                <a:latin typeface="+mn-lt"/>
              </a:rPr>
              <a:t>Monthly spend (INR)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(INR)</c:v>
                </c:pt>
              </c:strCache>
            </c:strRef>
          </c:tx>
          <c:spPr>
            <a:solidFill>
              <a:srgbClr val="E07B1F"/>
            </a:solidFill>
            <a:ln w="38100" cap="flat">
              <a:solidFill>
                <a:srgbClr val="E07B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7B1F"/>
              </a:solidFill>
              <a:ln w="9525" cap="flat">
                <a:solidFill>
                  <a:srgbClr val="E07B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50862</c:v>
                </c:pt>
                <c:pt idx="1">
                  <c:v>26047</c:v>
                </c:pt>
                <c:pt idx="2">
                  <c:v>42994</c:v>
                </c:pt>
                <c:pt idx="3">
                  <c:v>37140</c:v>
                </c:pt>
                <c:pt idx="4">
                  <c:v>34902</c:v>
                </c:pt>
                <c:pt idx="5">
                  <c:v>36661</c:v>
                </c:pt>
                <c:pt idx="6">
                  <c:v>21459</c:v>
                </c:pt>
                <c:pt idx="7">
                  <c:v>53133</c:v>
                </c:pt>
                <c:pt idx="8">
                  <c:v>29870</c:v>
                </c:pt>
                <c:pt idx="9">
                  <c:v>29007</c:v>
                </c:pt>
                <c:pt idx="10">
                  <c:v>45940</c:v>
                </c:pt>
                <c:pt idx="11">
                  <c:v>37800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A"/>
                </a:solidFill>
                <a:latin typeface="+mn-lt"/>
              </a:rPr>
              <a:t>Spend by payment method (INR)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by payment method (INR)</c:v>
                </c:pt>
              </c:strCache>
            </c:strRef>
          </c:tx>
          <c:spPr>
            <a:solidFill>
              <a:srgbClr val="7A3E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UPI</c:v>
                  </c:pt>
                  <c:pt idx="1">
                    <c:v>Cash</c:v>
                  </c:pt>
                  <c:pt idx="2">
                    <c:v>Debit Card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145422</c:v>
                </c:pt>
                <c:pt idx="1">
                  <c:v>108942</c:v>
                </c:pt>
                <c:pt idx="2">
                  <c:v>106577</c:v>
                </c:pt>
                <c:pt idx="3">
                  <c:v>84874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A"/>
                </a:solidFill>
                <a:latin typeface="+mn-lt"/>
              </a:rPr>
              <a:t>Spend by location (INR)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by location (INR)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Hostel</c:v>
                  </c:pt>
                  <c:pt idx="1">
                    <c:v>Outside</c:v>
                  </c:pt>
                  <c:pt idx="2">
                    <c:v>Home</c:v>
                  </c:pt>
                  <c:pt idx="3">
                    <c:v>College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122352</c:v>
                </c:pt>
                <c:pt idx="1">
                  <c:v>119615</c:v>
                </c:pt>
                <c:pt idx="2">
                  <c:v>106068</c:v>
                </c:pt>
                <c:pt idx="3">
                  <c:v>97780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summarises the Student_Expenses dataset (300 transactions, 2025) and the Power BI style dashboard built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₹445,815; mean ₹1,486; monthly average ₹37,151. Needs ₹278,062 = 62.4%.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KPIs and five charts: category, needs vs wants, monthly trend, payment method, top 6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122,911; Transport 76,301; Education 71,092 = 270,304 = 60.6% of 445,815.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need share 88,827/122,911=72.3%; Education want share 34,446/71,092=48.5%; Bills need share 79.6%.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Aug 53,133; Jan 50,862; low Jul 21,459. Ratio 2.48x.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UPI 145,422 =32.6%; Cash 24.4%; Debit 23.9%; Credit 19.0%. Hostel 27.4%, Outside 26.8%, Home 23.8%, College 21.9%.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follow from the category, need/want and monthly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8503920" y="1097280"/>
            <a:ext cx="4206240" cy="420624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Motif small"/>
          <p:cNvSpPr/>
          <p:nvPr/>
        </p:nvSpPr>
        <p:spPr>
          <a:xfrm>
            <a:off x="9966960" y="4023360"/>
            <a:ext cx="2377440" cy="2377440"/>
          </a:xfrm>
          <a:prstGeom prst="ellipse">
            <a:avLst/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Expenses Analytics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E6"/>
                </a:solidFill>
              </a:rPr>
              <a:t>Where the money goes: 300 transactions, January–December 2025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₹4.46 lakh spent across 300 transactions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737360"/>
            <a:ext cx="1993392" cy="2377440"/>
          </a:xfrm>
          <a:prstGeom prst="roundRect">
            <a:avLst>
              <a:gd name="adj" fmla="val 55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116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₹445,815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175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spend</a:t>
            </a:r>
            <a:endParaRPr lang="en-US" sz="1500" dirty="0"/>
          </a:p>
        </p:txBody>
      </p:sp>
      <p:sp>
        <p:nvSpPr>
          <p:cNvPr id="6" name="KPI card 2"/>
          <p:cNvSpPr/>
          <p:nvPr/>
        </p:nvSpPr>
        <p:spPr>
          <a:xfrm>
            <a:off x="2816352" y="1737360"/>
            <a:ext cx="1993392" cy="2377440"/>
          </a:xfrm>
          <a:prstGeom prst="roundRect">
            <a:avLst>
              <a:gd name="adj" fmla="val 550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53512" y="20116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953512" y="30175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9" name="KPI card 3"/>
          <p:cNvSpPr/>
          <p:nvPr/>
        </p:nvSpPr>
        <p:spPr>
          <a:xfrm>
            <a:off x="5084064" y="1737360"/>
            <a:ext cx="1993392" cy="2377440"/>
          </a:xfrm>
          <a:prstGeom prst="roundRect">
            <a:avLst>
              <a:gd name="adj" fmla="val 550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21224" y="20116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₹1,486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221224" y="30175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transaction</a:t>
            </a:r>
            <a:endParaRPr lang="en-US" sz="1500" dirty="0"/>
          </a:p>
        </p:txBody>
      </p:sp>
      <p:sp>
        <p:nvSpPr>
          <p:cNvPr id="12" name="KPI card 4"/>
          <p:cNvSpPr/>
          <p:nvPr/>
        </p:nvSpPr>
        <p:spPr>
          <a:xfrm>
            <a:off x="7351776" y="1737360"/>
            <a:ext cx="1993392" cy="2377440"/>
          </a:xfrm>
          <a:prstGeom prst="roundRect">
            <a:avLst>
              <a:gd name="adj" fmla="val 550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88936" y="20116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488936" y="30175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spent on needs</a:t>
            </a:r>
            <a:endParaRPr lang="en-US" sz="1500" dirty="0"/>
          </a:p>
        </p:txBody>
      </p:sp>
      <p:sp>
        <p:nvSpPr>
          <p:cNvPr id="15" name="KPI card 5"/>
          <p:cNvSpPr/>
          <p:nvPr/>
        </p:nvSpPr>
        <p:spPr>
          <a:xfrm>
            <a:off x="9619488" y="1737360"/>
            <a:ext cx="1993392" cy="2377440"/>
          </a:xfrm>
          <a:prstGeom prst="roundRect">
            <a:avLst>
              <a:gd name="adj" fmla="val 550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56648" y="20116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756648" y="30175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Top category (27.6%)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Spending averages about ₹37,000 a month.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Individual transactions range from ₹51 to ₹2,991, so a few large payments move the totals more than the many small ones.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dashboard at a glance</a:t>
            </a:r>
            <a:endParaRPr lang="en-US" sz="3400" dirty="0"/>
          </a:p>
        </p:txBody>
      </p:sp>
      <p:pic>
        <p:nvPicPr>
          <p:cNvPr id="3" name="Dashboard image" descr="Student Expenses Analytics Dashboard with 5 KPI cards and 5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28016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Food leads; three categories drive 61%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value"/>
          <p:cNvSpPr txBox="1"/>
          <p:nvPr/>
        </p:nvSpPr>
        <p:spPr>
          <a:xfrm>
            <a:off x="795528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</a:t>
            </a:r>
            <a:endParaRPr lang="en-US" sz="4000" dirty="0"/>
          </a:p>
        </p:txBody>
      </p:sp>
      <p:sp>
        <p:nvSpPr>
          <p:cNvPr id="5" name="Callout label"/>
          <p:cNvSpPr txBox="1"/>
          <p:nvPr/>
        </p:nvSpPr>
        <p:spPr>
          <a:xfrm>
            <a:off x="795528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all spend goes to Food (₹122,911)</a:t>
            </a:r>
            <a:endParaRPr lang="en-US" sz="1500" dirty="0"/>
          </a:p>
        </p:txBody>
      </p:sp>
      <p:sp>
        <p:nvSpPr>
          <p:cNvPr id="6" name="Callout value"/>
          <p:cNvSpPr txBox="1"/>
          <p:nvPr/>
        </p:nvSpPr>
        <p:spPr>
          <a:xfrm>
            <a:off x="79552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60.6%</a:t>
            </a:r>
            <a:endParaRPr lang="en-US" sz="4000" dirty="0"/>
          </a:p>
        </p:txBody>
      </p:sp>
      <p:sp>
        <p:nvSpPr>
          <p:cNvPr id="7" name="Callout label"/>
          <p:cNvSpPr txBox="1"/>
          <p:nvPr/>
        </p:nvSpPr>
        <p:spPr>
          <a:xfrm>
            <a:off x="7955280" y="4343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comes from the top three: Food, Transport and Education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Needs make up 62% of spending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value"/>
          <p:cNvSpPr txBox="1"/>
          <p:nvPr/>
        </p:nvSpPr>
        <p:spPr>
          <a:xfrm>
            <a:off x="6309360" y="1554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₹278,062</a:t>
            </a:r>
            <a:endParaRPr lang="en-US" sz="4000" dirty="0"/>
          </a:p>
        </p:txBody>
      </p:sp>
      <p:sp>
        <p:nvSpPr>
          <p:cNvPr id="5" name="Callout label"/>
          <p:cNvSpPr txBox="1"/>
          <p:nvPr/>
        </p:nvSpPr>
        <p:spPr>
          <a:xfrm>
            <a:off x="6309360" y="2331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needs (62.4%), against ₹167,753 on wants (37.6%)</a:t>
            </a:r>
            <a:endParaRPr lang="en-US" sz="1500" dirty="0"/>
          </a:p>
        </p:txBody>
      </p:sp>
      <p:sp>
        <p:nvSpPr>
          <p:cNvPr id="6" name="Callout value"/>
          <p:cNvSpPr txBox="1"/>
          <p:nvPr/>
        </p:nvSpPr>
        <p:spPr>
          <a:xfrm>
            <a:off x="630936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7" name="Callout label"/>
          <p:cNvSpPr txBox="1"/>
          <p:nvPr/>
        </p:nvSpPr>
        <p:spPr>
          <a:xfrm>
            <a:off x="6309360" y="4160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Food spend is a need</a:t>
            </a:r>
            <a:endParaRPr lang="en-US" sz="1500" dirty="0"/>
          </a:p>
        </p:txBody>
      </p:sp>
      <p:sp>
        <p:nvSpPr>
          <p:cNvPr id="8" name="Callout value"/>
          <p:cNvSpPr txBox="1"/>
          <p:nvPr/>
        </p:nvSpPr>
        <p:spPr>
          <a:xfrm>
            <a:off x="914400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000" dirty="0"/>
          </a:p>
        </p:txBody>
      </p:sp>
      <p:sp>
        <p:nvSpPr>
          <p:cNvPr id="9" name="Callout label"/>
          <p:cNvSpPr txBox="1"/>
          <p:nvPr/>
        </p:nvSpPr>
        <p:spPr>
          <a:xfrm>
            <a:off x="9144000" y="4160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Education spend is a want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5120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Wants are highest in Education, Shopping and Entertainment, where roughly half the spend is discretionary.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Spending peaks in August, dips in July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value"/>
          <p:cNvSpPr txBox="1"/>
          <p:nvPr/>
        </p:nvSpPr>
        <p:spPr>
          <a:xfrm>
            <a:off x="832104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₹53,133</a:t>
            </a:r>
            <a:endParaRPr lang="en-US" sz="4000" dirty="0"/>
          </a:p>
        </p:txBody>
      </p:sp>
      <p:sp>
        <p:nvSpPr>
          <p:cNvPr id="5" name="Callout label"/>
          <p:cNvSpPr txBox="1"/>
          <p:nvPr/>
        </p:nvSpPr>
        <p:spPr>
          <a:xfrm>
            <a:off x="832104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August, the highest month</a:t>
            </a:r>
            <a:endParaRPr lang="en-US" sz="1500" dirty="0"/>
          </a:p>
        </p:txBody>
      </p:sp>
      <p:sp>
        <p:nvSpPr>
          <p:cNvPr id="6" name="Callout value"/>
          <p:cNvSpPr txBox="1"/>
          <p:nvPr/>
        </p:nvSpPr>
        <p:spPr>
          <a:xfrm>
            <a:off x="832104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₹21,459</a:t>
            </a:r>
            <a:endParaRPr lang="en-US" sz="4000" dirty="0"/>
          </a:p>
        </p:txBody>
      </p:sp>
      <p:sp>
        <p:nvSpPr>
          <p:cNvPr id="7" name="Callout label"/>
          <p:cNvSpPr txBox="1"/>
          <p:nvPr/>
        </p:nvSpPr>
        <p:spPr>
          <a:xfrm>
            <a:off x="832104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July, the lowest, about 2.5× lower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UPI is the most-used payment method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3716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UPI carries 32.6% of spend,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while credit cards account for only 19.0%. Spending is spread fairly evenly across places, with the hostel (27.4%) and outside (26.8%) slightly ahead.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this means for students</a:t>
            </a:r>
            <a:endParaRPr lang="en-US" sz="3600" dirty="0"/>
          </a:p>
        </p:txBody>
      </p:sp>
      <p:sp>
        <p:nvSpPr>
          <p:cNvPr id="3" name="Number badge 1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45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Food first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1488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6"/>
                </a:solidFill>
              </a:rPr>
              <a:t>It is the largest line at 27.6% of spend; groceries and snacks alone top ₹35,000 each.</a:t>
            </a:r>
            <a:endParaRPr lang="en-US" sz="1600" dirty="0"/>
          </a:p>
        </p:txBody>
      </p:sp>
      <p:sp>
        <p:nvSpPr>
          <p:cNvPr id="7" name="Number badge 2"/>
          <p:cNvSpPr/>
          <p:nvPr/>
        </p:nvSpPr>
        <p:spPr>
          <a:xfrm>
            <a:off x="548640" y="31546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the wants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6"/>
                </a:solidFill>
              </a:rPr>
              <a:t>₹167,753 (37.6%) is discretionary, with the most room in Shopping and Entertainment.</a:t>
            </a:r>
            <a:endParaRPr lang="en-US" sz="1600" dirty="0"/>
          </a:p>
        </p:txBody>
      </p:sp>
      <p:sp>
        <p:nvSpPr>
          <p:cNvPr id="11" name="Number badge 3"/>
          <p:cNvSpPr/>
          <p:nvPr/>
        </p:nvSpPr>
        <p:spPr>
          <a:xfrm>
            <a:off x="548640" y="45720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480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peak months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983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6"/>
                </a:solidFill>
              </a:rPr>
              <a:t>August and January run more than twice the lowest month, so set aside a buffer for them.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Expenses">
  <a:themeElements>
    <a:clrScheme name="Student Expenses">
      <a:dk1>
        <a:srgbClr val="1F2937"/>
      </a:dk1>
      <a:lt1>
        <a:srgbClr val="FFFFFF"/>
      </a:lt1>
      <a:dk2>
        <a:srgbClr val="12263A"/>
      </a:dk2>
      <a:lt2>
        <a:srgbClr val="EEF3F6"/>
      </a:lt2>
      <a:accent1>
        <a:srgbClr val="0E7C7B"/>
      </a:accent1>
      <a:accent2>
        <a:srgbClr val="F2A541"/>
      </a:accent2>
      <a:accent3>
        <a:srgbClr val="D1495B"/>
      </a:accent3>
      <a:accent4>
        <a:srgbClr val="5C6B7A"/>
      </a:accent4>
      <a:accent5>
        <a:srgbClr val="3E92CC"/>
      </a:accent5>
      <a:accent6>
        <a:srgbClr val="7A9E3B"/>
      </a:accent6>
      <a:hlink>
        <a:srgbClr val="0E7C7B"/>
      </a:hlink>
      <a:folHlink>
        <a:srgbClr val="5C6B7A"/>
      </a:folHlink>
    </a:clrScheme>
    <a:fontScheme name="Student Expens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Expenses Analytics</dc:title>
  <dc:subject>PptxGenJS Presentation</dc:subject>
  <dc:creator>PptxGenJS</dc:creator>
  <cp:lastModifiedBy>PptxGenJS</cp:lastModifiedBy>
  <cp:revision>1</cp:revision>
  <dcterms:created xsi:type="dcterms:W3CDTF">2026-10-12T14:25:04Z</dcterms:created>
  <dcterms:modified xsi:type="dcterms:W3CDTF">2026-10-12T14:25:04Z</dcterms:modified>
</cp:coreProperties>
</file>